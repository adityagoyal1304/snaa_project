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Dengue Disease Spread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Analysis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2926080"/>
            <a:ext cx="10972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0632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National-Level Temporal Epidemiological Network Study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Dengue Incidents &amp; Weather Data of Bangladesh (Kaggle)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24375F"/>
          </a:solidFill>
          <a:ln w="12700">
            <a:solidFill>
              <a:srgbClr val="2437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46227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Spread  ·  Epidemiological Network Analysis  ·  Bangladesh  ·  2008 – 2019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840480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64008" cy="38404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520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temporal spread of Dengue fever using national-level monthly climate and case data as a weighted, directed network graph.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 Monthly time periods (134 months, Jan 2008 – Feb 2019)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 Temporal transmission links weighted by climate similarity × case burden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contains 134 national-level monthly records capturing monsoon-driven seasonality and year-over-year epidemic escalation.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06240" cy="3840480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822960"/>
            <a:ext cx="64008" cy="3840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SNA Metrics Computed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408176"/>
            <a:ext cx="164592" cy="16459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Centrality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0" y="15727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highly connected time periods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837944"/>
            <a:ext cx="164592" cy="16459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8013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Centrality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200253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between epidemic phases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267712"/>
            <a:ext cx="164592" cy="16459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Closeness Centrality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24323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reaching other time periods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697480"/>
            <a:ext cx="164592" cy="16459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660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0" y="28620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outbreak influence score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127248"/>
            <a:ext cx="164592" cy="16459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0906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Coefficient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0" y="32918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transmission density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557016"/>
            <a:ext cx="164592" cy="16459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5204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Detection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0" y="37216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modularity seasonal clusters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986784"/>
            <a:ext cx="164592" cy="16459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950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Diameter &amp; APL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0" y="41513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spread distance metrics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NETWORK GRAPH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172200" y="749808"/>
            <a:ext cx="2743200" cy="960120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72200" y="749808"/>
            <a:ext cx="54864" cy="9601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0" y="8229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Communities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09360" y="10789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modularity detected 2 seasonal communities (dry season vs monsoon).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2743200" cy="960120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1828800"/>
            <a:ext cx="54864" cy="96012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9019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Graph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09360" y="21579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weighted by climate similarity × case burden (source month).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72200" y="2907792"/>
            <a:ext cx="2743200" cy="960120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2907792"/>
            <a:ext cx="54864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298094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Size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09360" y="323697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to PageRank — larger nodes are higher-influence outbreak periods.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72200" y="3986784"/>
            <a:ext cx="2743200" cy="960120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72200" y="3986784"/>
            <a:ext cx="54864" cy="960120"/>
          </a:xfrm>
          <a:prstGeom prst="rect">
            <a:avLst/>
          </a:prstGeom>
          <a:solidFill>
            <a:srgbClr val="5A6A80"/>
          </a:solidFill>
          <a:ln w="12700">
            <a:solidFill>
              <a:srgbClr val="5A6A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40599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09360" y="43159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density (0.10) reflects climate-driven temporal connectivity.</a:t>
            </a:r>
            <a:endParaRPr lang="en-US" sz="950" dirty="0"/>
          </a:p>
        </p:txBody>
      </p:sp>
      <p:pic>
        <p:nvPicPr>
          <p:cNvPr id="21" name="Picture 20" descr="fig1_transmission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731520"/>
            <a:ext cx="5760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 METRICS ANALYSIS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Charts show top 20 time periods ranked by each metric. All top PageRank periods fall within the monsoon season (Jun–Oct).</a:t>
            </a:r>
            <a:endParaRPr lang="en-US" sz="850" dirty="0"/>
          </a:p>
        </p:txBody>
      </p:sp>
      <p:pic>
        <p:nvPicPr>
          <p:cNvPr id="6" name="Picture 5" descr="fig2_centrality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713232"/>
            <a:ext cx="8778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OUTBREAK PERIODS – SNA METRICS SUMMARY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402336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TRENDS &amp; NATIONAL HEATMAP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858000" y="804672"/>
            <a:ext cx="2057400" cy="1115568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0" y="804672"/>
            <a:ext cx="54864" cy="11155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95160" y="896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995160" y="11521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July–October accounts for the majority of annual case burden nationally.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858000" y="2084832"/>
            <a:ext cx="2057400" cy="1115568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0" y="2084832"/>
            <a:ext cx="54864" cy="11155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95160" y="2176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Off-Season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995160" y="24323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November–February shows consistently zero or near-zero cases, aligned with drier weather.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58000" y="3364992"/>
            <a:ext cx="2057400" cy="1115568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0" y="3364992"/>
            <a:ext cx="54864" cy="11155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5160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995160" y="37124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2016–2018 show dramatic escalation: Sep 2018 had the peak of 3,087 cases nationally.</a:t>
            </a:r>
            <a:endParaRPr lang="en-US" sz="950" dirty="0"/>
          </a:p>
        </p:txBody>
      </p:sp>
      <p:pic>
        <p:nvPicPr>
          <p:cNvPr id="17" name="Picture 16" descr="fig3_seasonal_tr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685800"/>
            <a:ext cx="64922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DISTRIBUTION ANALYSIS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309360" y="749808"/>
            <a:ext cx="2606040" cy="4114800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09360" y="749808"/>
            <a:ext cx="54864" cy="4114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73952" y="868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92240" y="1344168"/>
            <a:ext cx="146304" cy="14630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129844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In-degree varies widely across periods: monsoon months receive transmission links from many outbreak periods, while dry-season months have lower in-degree.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92240" y="2167128"/>
            <a:ext cx="146304" cy="14630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0" y="212140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Out-degree is highly skewed: months with zero cases have zero out-degree (sinks), while high-case months like Sep 2018 have high out-degree, confirming super-spreader behaviour.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92240" y="2990088"/>
            <a:ext cx="146304" cy="14630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294436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asymmetry between in and out-degree distributions is characteristic of temporal epidemic networks where case burden drives directionality.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92240" y="3813048"/>
            <a:ext cx="146304" cy="14630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376732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High-out-degree periods (outbreak months) are the primary drivers of network connectivity.</a:t>
            </a:r>
            <a:endParaRPr lang="en-US" sz="950" dirty="0"/>
          </a:p>
        </p:txBody>
      </p:sp>
      <p:pic>
        <p:nvPicPr>
          <p:cNvPr id="16" name="Picture 15" descr="fig4_degree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731520"/>
            <a:ext cx="594360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DETECTION &amp; GLOBAL NETWORK STATISTICS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572768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39112" y="749808"/>
            <a:ext cx="1572768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39112" y="80467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039112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58184" y="749808"/>
            <a:ext cx="1572768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58184" y="80467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758184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77256" y="749808"/>
            <a:ext cx="1572768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77256" y="80467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477256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Shortest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96328" y="749808"/>
            <a:ext cx="1572768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96328" y="80467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196328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2286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Composition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651760"/>
            <a:ext cx="4023360" cy="2194560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651760"/>
            <a:ext cx="54864" cy="21945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724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1  (82 periods – Dry Season)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3017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Nov–Apr months across all years: low humidity, low rainfall,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or zero dengue cases. Cooler climate profile.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611880"/>
            <a:ext cx="4023360" cy="36576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2  (52 periods – Monsoon Season)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39867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May–Oct months across all years: high temperature, rainfall,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humidity. Contains all major outbreak periods.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2286000"/>
            <a:ext cx="4297680" cy="2578608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2286000"/>
            <a:ext cx="54864" cy="2578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377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Modularity &amp; Connectivity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278892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Score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30175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0.0973 — moderate modularity indicates two distinct seasonal clusters with some cross-cluster edges during transitional months.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345643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Connected Components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0" y="36850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SCCs detected — most zero-case months are isolated sinks (no outgoing edges).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41239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Weakly Connected Components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43525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WCC confirms all periods participate in one connected transmission network.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19202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5029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87782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Outbreak Periods Identified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307592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2010 (PageRank 0.021) and Aug 2013 (0.016) score highest as recursive influencers. All top-10 periods are monsoon months (Jun–Oct).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60520" cy="19202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502920" cy="5029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04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49240" y="87782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Periods Are Structurally Critical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307592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2016 (0.028) and Aug 2016 (0.023) record the highest betweenness — they act as conduits connecting different epidemic phases and are key transitional periods.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62072"/>
            <a:ext cx="4160520" cy="19202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62072"/>
            <a:ext cx="502920" cy="50292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293522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Pronounced Monsoon Seasonality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" y="3364992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transmission consistently occurs Jul–Oct, correlating with high rainfall and humidity. Off-season (Nov–Feb) has near-zero cases.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862072"/>
            <a:ext cx="4160520" cy="19202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62072"/>
            <a:ext cx="502920" cy="502920"/>
          </a:xfrm>
          <a:prstGeom prst="rect">
            <a:avLst/>
          </a:prstGeom>
          <a:solidFill>
            <a:srgbClr val="7A5C9A"/>
          </a:solidFill>
          <a:ln w="12700">
            <a:solidFill>
              <a:srgbClr val="7A5C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49240" y="293522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Severity Over Time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3364992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escalated dramatically from 2015–2018, with Sep 2018 recording the dataset peak of 3,087 cases. The network captures this through increasing edge density in later years.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24375F"/>
          </a:solidFill>
          <a:ln w="12700">
            <a:solidFill>
              <a:srgbClr val="2437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Preparedness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" y="12435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enhanced monitoring and vector control before the June monsoon onset each year.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792224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7190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Period Intervention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" y="19568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are the critical bridge periods; intensive intervention here disrupts epidemic momentum.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2505456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4323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Monitoring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" y="26700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2015–2018 escalation trend demands ongoing surveillance for early detection of worsening seasons.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3218688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1455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Climate-Based Early Warning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" y="33832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climate similarity between outbreak months enables predictive modelling based on temperature, rainfall, and humidity.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3931920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8587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Analysis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" y="40965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district-level spatial data and mobility data to build a spatio-temporal transmission network.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457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960120"/>
            <a:ext cx="4343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demonstrates that Social Network Analysis applied to temporal climate-case data provides a powerful lens for understanding dengue transmission dynamics in Bangladesh. The directed weighted network revealed that outbreak risk is not uniform — a small subset of monsoon months drive disproportionate transmission. Community detection naturally separated the network into dry and monsoon seasons, confirming climate-driven epidemic structure. Future work should incorporate spatial and mobility data for a comprehensive spatio-temporal model.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A3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Dengue Disease Spread – Social Network Analysis  ·  Bangladesh  ·  2008–2019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Dengue Disease Spread – Social Network Analysis</dc:title>
  <dc:subject>PptxGenJS Presentation</dc:subject>
  <dc:creator>PptxGenJS</dc:creator>
  <cp:lastModifiedBy>PptxGenJS</cp:lastModifiedBy>
  <cp:revision>1</cp:revision>
  <dcterms:created xsi:type="dcterms:W3CDTF">2026-04-24T18:19:50Z</dcterms:created>
  <dcterms:modified xsi:type="dcterms:W3CDTF">2026-04-24T18:19:50Z</dcterms:modified>
</cp:coreProperties>
</file>